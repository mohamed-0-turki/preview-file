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theme" Target="theme/theme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/>
            </a:pPr>
            <a:r>
              <a:rPr lang="en-US" sz="1400" b="1"/>
              <a:t>Quarterly units by series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Sheet1!$A$2:$A${len(CATS) + 1}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4.3</c:v>
                </c:pt>
                <c:pt idx="1">
                  <c:v>2.4</c:v>
                </c:pt>
                <c:pt idx="2">
                  <c:v>2.0</c:v>
                </c:pt>
                <c:pt idx="3">
                  <c:v>5.5</c:v>
                </c:pt>
                <c:pt idx="4">
                  <c:v>4.9</c:v>
                </c:pt>
                <c:pt idx="5">
                  <c:v>6.5</c:v>
                </c:pt>
                <c:pt idx="6">
                  <c:v>5.3</c:v>
                </c:pt>
                <c:pt idx="7">
                  <c:v>7.8</c:v>
                </c:pt>
                <c:pt idx="8">
                  <c:v>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cat>
            <c:strRef>
              <c:f>Sheet1!$A$2:$A${len(CATS) + 1}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2.0</c:v>
                </c:pt>
                <c:pt idx="1">
                  <c:v>1.9</c:v>
                </c:pt>
                <c:pt idx="2">
                  <c:v>1.7</c:v>
                </c:pt>
                <c:pt idx="3">
                  <c:v>3.5</c:v>
                </c:pt>
                <c:pt idx="4">
                  <c:v>3.1</c:v>
                </c:pt>
                <c:pt idx="5">
                  <c:v>4.2</c:v>
                </c:pt>
                <c:pt idx="6">
                  <c:v>3.6</c:v>
                </c:pt>
                <c:pt idx="7">
                  <c:v>4.9</c:v>
                </c:pt>
                <c:pt idx="8">
                  <c:v>4.1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</c:spPr>
          <c:invertIfNegative val="0"/>
          <c:cat>
            <c:strRef>
              <c:f>Sheet1!$A$2:$A${len(CATS) + 1}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1.1</c:v>
                </c:pt>
                <c:pt idx="1">
                  <c:v>0.9</c:v>
                </c:pt>
                <c:pt idx="2">
                  <c:v>1.3</c:v>
                </c:pt>
                <c:pt idx="3">
                  <c:v>2.4</c:v>
                </c:pt>
                <c:pt idx="4">
                  <c:v>2.2</c:v>
                </c:pt>
                <c:pt idx="5">
                  <c:v>2.9</c:v>
                </c:pt>
                <c:pt idx="6">
                  <c:v>2.6</c:v>
                </c:pt>
                <c:pt idx="7">
                  <c:v>3.5</c:v>
                </c:pt>
                <c:pt idx="8">
                  <c:v>3.0</c:v>
                </c:pt>
              </c:numCache>
            </c:numRef>
          </c:val>
        </c:ser>
        <c:gapWidth val="80"/>
        <c:overlap val="-15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majorGridlines/>
        <c:crossAx val="111111111"/>
      </c:valAx>
    </c:plotArea>
    <c:legend>
      <c:legendPos val="b"/>
      <c:overlay val="0"/>
    </c:legend>
    <c:plotVisOnly val="1"/>
    <c:dispBlanksAs val="gap"/>
  </c:chart>
</c:chartSpace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 Placeholder 1"/>
          <p:cNvSpPr>
            <a:spLocks noGrp="1"/>
          </p:cNvSpPr>
          <p:nvPr>
            <p:ph type="title" idx="1"/>
          </p:nvPr>
        </p:nvSpPr>
        <p:spPr>
          <a:xfrm>
            <a:off x="457200" y="274638"/>
            <a:ext cx="10515600" cy="1325563"/>
          </a:xfrm>
        </p:spPr>
        <p:txBody>
          <a:bodyPr anchor="ctr"/>
          <a:lstStyle>
            <a:lvl1pPr algn="l">
              <a:defRPr sz="3200"/>
            </a:lvl1pPr>
          </a:lstStyle>
          <a:p>
            <a:endParaRPr lang="en-US"/>
          </a:p>
        </p:txBody>
      </p:sp>
      <p:sp>
        <p:nvSpPr>
          <p:cNvPr id="202" name="Text Placeholder 2"/>
          <p:cNvSpPr>
            <a:spLocks noGrp="1"/>
          </p:cNvSpPr>
          <p:nvPr>
            <p:ph type="body" idx="2"/>
          </p:nvPr>
        </p:nvSpPr>
        <p:spPr>
          <a:xfrm>
            <a:off x="457200" y="1600200"/>
            <a:ext cx="10515600" cy="4525963"/>
          </a:xfrm>
        </p:spPr>
        <p:txBody>
          <a:bodyPr anchor="t"/>
          <a:lstStyle>
            <a:lvl1pPr marL="285750" indent="-285750">
              <a:defRPr sz="1800"/>
            </a:lvl1pPr>
          </a:lstStyle>
          <a:p>
            <a:endParaRPr lang="en-US"/>
          </a:p>
        </p:txBody>
      </p:sp>
      <p:sp>
        <p:nvSpPr>
          <p:cNvPr id="203" name="Bullets Placeholder 3"/>
          <p:cNvSpPr>
            <a:spLocks noGrp="1"/>
          </p:cNvSpPr>
          <p:nvPr>
            <p:ph type="body" idx="3"/>
          </p:nvPr>
        </p:nvSpPr>
        <p:spPr>
          <a:xfrm>
            <a:off x="4114800" y="2438400"/>
            <a:ext cx="2743200" cy="1200150"/>
          </a:xfrm>
        </p:spPr>
        <p:txBody>
          <a:bodyPr anchor="t"/>
          <a:lstStyle>
            <a:lvl1pPr marL="228600" indent="-228600">
              <a:buChar char="•"/>
              <a:defRPr sz="1400"/>
            </a:lvl1pPr>
            <a:lvl2pPr marL="685800" indent="-228600">
              <a:buChar char="o"/>
              <a:defRPr sz="1200"/>
            </a:lvl2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Placeholder 1"/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2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b="1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400">
          <a:solidFill>
            <a:schemeClr val="tx1"/>
          </a:solidFill>
          <a:latin typeface="+mn-lt"/>
        </a:defRPr>
      </a:lvl1pPr>
      <a:lvl2pPr marL="742950" indent="-285750">
        <a:buChar char="o"/>
        <a:defRPr sz="2000">
          <a:solidFill>
            <a:schemeClr val="tx1"/>
          </a:solidFill>
          <a:latin typeface="+mn-lt"/>
        </a:defRPr>
      </a:lvl2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hape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idx="1"/>
          </p:nvPr>
        </p:nvSpPr>
        <p:spPr/>
        <p:txBody>
          <a:bodyPr anchor="ctr">
            <a:normAutofit/>
          </a:bodyPr>
          <a:lstStyle/>
          <a:p>
            <a:pPr>
              <a:buNone/>
            </a:pPr>
            <a:r>
              <a:rPr lang="en-US" b="1">
                <a:solidFill>
                  <a:srgbClr val="123A63"/>
                </a:solidFill>
                <a:latin typeface="+mj-lt"/>
              </a:rPr>
              <a:t>Shape and text fidelity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>
                <a:solidFill>
                  <a:srgbClr val="4A5A6A"/>
                </a:solidFill>
                <a:latin typeface="+mn-lt"/>
              </a:rPr>
              <a:t>Exact EMU geometry, theme colours, resolved text insets</a:t>
            </a:r>
          </a:p>
        </p:txBody>
      </p:sp>
      <p:sp>
        <p:nvSpPr>
          <p:cNvPr id="4" name="Blue card"/>
          <p:cNvSpPr/>
          <p:nvPr/>
        </p:nvSpPr>
        <p:spPr>
          <a:xfrm>
            <a:off x="576000" y="1656000"/>
            <a:ext cx="2304000" cy="9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n-lt"/>
              </a:rPr>
              <a:t>Scheme colour fill</a:t>
            </a:r>
          </a:p>
        </p:txBody>
      </p:sp>
      <p:sp>
        <p:nvSpPr>
          <p:cNvPr id="5" name="Orange card"/>
          <p:cNvSpPr/>
          <p:nvPr/>
        </p:nvSpPr>
        <p:spPr>
          <a:xfrm>
            <a:off x="3024000" y="1656000"/>
            <a:ext cx="2304000" cy="936000"/>
          </a:xfrm>
          <a:prstGeom prst="rect">
            <a:avLst/>
          </a:prstGeom>
          <a:solidFill>
            <a:srgbClr val="ED7D31"/>
          </a:solidFill>
          <a:ln w="19050">
            <a:solidFill>
              <a:srgbClr val="833C00"/>
            </a:solidFill>
          </a:ln>
        </p:spPr>
        <p:txBody>
          <a:bodyPr lIns="91440" tIns="45720" rIns="91440" bIns="4572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n-lt"/>
              </a:rPr>
              <a:t>RGB fill with stroke</a:t>
            </a:r>
          </a:p>
        </p:txBody>
      </p:sp>
      <p:sp>
        <p:nvSpPr>
          <p:cNvPr id="6" name="Rounded card"/>
          <p:cNvSpPr/>
          <p:nvPr/>
        </p:nvSpPr>
        <p:spPr>
          <a:xfrm>
            <a:off x="5472000" y="1656000"/>
            <a:ext cx="2304000" cy="936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+mn-lt"/>
              </a:rPr>
              <a:t>roundRect geometry</a:t>
            </a:r>
          </a:p>
        </p:txBody>
      </p:sp>
      <p:sp>
        <p:nvSpPr>
          <p:cNvPr id="7" name="Ellipse"/>
          <p:cNvSpPr/>
          <p:nvPr/>
        </p:nvSpPr>
        <p:spPr>
          <a:xfrm>
            <a:off x="576000" y="2808000"/>
            <a:ext cx="1512000" cy="936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+mn-lt"/>
              </a:rPr>
              <a:t>ellipse</a:t>
            </a:r>
          </a:p>
        </p:txBody>
      </p:sp>
      <p:sp>
        <p:nvSpPr>
          <p:cNvPr id="8" name="Triangle"/>
          <p:cNvSpPr/>
          <p:nvPr/>
        </p:nvSpPr>
        <p:spPr>
          <a:xfrm>
            <a:off x="2304000" y="2808000"/>
            <a:ext cx="1512000" cy="936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txBody>
          <a:bodyPr lIns="91440" tIns="45720" rIns="91440" bIns="4572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+mn-lt"/>
              </a:rPr>
              <a:t>triangle</a:t>
            </a:r>
          </a:p>
        </p:txBody>
      </p:sp>
      <p:sp>
        <p:nvSpPr>
          <p:cNvPr id="12" name="Mixed runs"/>
          <p:cNvSpPr>
            <a:spLocks noGrp="1"/>
          </p:cNvSpPr>
          <p:nvPr>
            <p:ph type="body" idx="3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>
                <a:solidFill>
                  <a:srgbClr val="C0392B"/>
                </a:solidFill>
                <a:latin typeface="+mn-lt"/>
              </a:rPr>
              <a:t>Bold red, </a:t>
            </a:r>
            <a:r>
              <a:rPr lang="en-US">
                <a:solidFill>
                  <a:srgbClr val="1F4E9C"/>
                </a:solidFill>
                <a:latin typeface="+mn-lt"/>
              </a:rPr>
              <a:t>then plain blue.</a:t>
            </a:r>
          </a:p>
        </p:txBody>
      </p:sp>
      <p:sp>
        <p:nvSpPr>
          <p:cNvPr id="9" name="Bullets"/>
          <p:cNvSpPr>
            <a:spLocks noGrp="1"/>
          </p:cNvSpPr>
          <p:nvPr>
            <p:ph type="body" idx="3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Char char="•"/>
            </a:pPr>
            <a:r>
              <a:rPr lang="en-US" sz="1400">
                <a:solidFill>
                  <a:srgbClr val="1F2328"/>
                </a:solidFill>
                <a:latin typeface="+mn-lt"/>
              </a:rPr>
              <a:t>First bullet with a much longer body that has to wrap inside the text box bounds.</a:t>
            </a:r>
          </a:p>
          <a:p>
            <a:pPr>
              <a:lnSpc>
                <a:spcPct val="90000"/>
              </a:lnSpc>
              <a:buChar char="•"/>
            </a:pPr>
            <a:r>
              <a:rPr lang="en-US" sz="1400">
                <a:solidFill>
                  <a:srgbClr val="1F2328"/>
                </a:solidFill>
                <a:latin typeface="+mn-lt"/>
              </a:rPr>
              <a:t>Second bullet</a:t>
            </a:r>
          </a:p>
          <a:p>
            <a:pPr lvl="1">
              <a:lnSpc>
                <a:spcPct val="90000"/>
              </a:lnSpc>
              <a:buChar char="•"/>
            </a:pPr>
            <a:r>
              <a:rPr lang="en-US" sz="1200">
                <a:solidFill>
                  <a:srgbClr val="57606A"/>
                </a:solidFill>
                <a:latin typeface="+mn-lt"/>
              </a:rPr>
              <a:t>Indented sub-point</a:t>
            </a:r>
          </a:p>
          <a:p>
            <a:pPr>
              <a:lnSpc>
                <a:spcPts val="2000"/>
              </a:lnSpc>
              <a:buFont typeface="+mj-lt"/>
              <a:buAutoNum type="arabicPeriod"/>
            </a:pPr>
            <a:r>
              <a:rPr lang="en-US" sz="1400">
                <a:solidFill>
                  <a:srgbClr val="1F2328"/>
                </a:solidFill>
                <a:latin typeface="+mn-lt"/>
              </a:rPr>
              <a:t>Third point at a fixed leading</a:t>
            </a:r>
          </a:p>
          <a:p>
            <a:pPr algn="just">
              <a:buNone/>
            </a:pPr>
            <a:r>
              <a:rPr lang="en-US" sz="1200">
                <a:solidFill>
                  <a:srgbClr val="1F2328"/>
                </a:solidFill>
                <a:latin typeface="+mn-lt"/>
              </a:rPr>
              <a:t>Justified paragraph to verify alignment distribution across the full line box.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rt">
    <p:bg>
      <p:bgPr>
        <a:gradFill rotWithShape="1">
          <a:gsLst>
            <a:gs pos="0">
              <a:schemeClr val="lt1"/>
            </a:gs>
            <a:gs pos="100000">
              <a:schemeClr val="lt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 title"/>
          <p:cNvSpPr txBox="1"/>
          <p:nvPr/>
        </p:nvSpPr>
        <p:spPr>
          <a:xfrm>
            <a:off x="720000" y="180000"/>
            <a:ext cx="8640000" cy="3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>
              <a:buNone/>
            </a:pPr>
            <a:r>
              <a:rPr lang="en-US" sz="2000" b="1">
                <a:solidFill>
                  <a:srgbClr val="123A63"/>
                </a:solidFill>
                <a:latin typeface="+mn-lt"/>
              </a:rPr>
              <a:t>Clustered column chart with a gradient slide background</a:t>
            </a:r>
          </a:p>
        </p:txBody>
      </p:sp>
      <p:graphicFrame>
        <p:nvGraphicFramePr>
          <p:cNvPr id="20" name="Chart 1"/>
          <p:cNvGraphicFramePr/>
          <p:nvPr/>
        </p:nvGraphicFramePr>
        <p:xfrm>
          <a:off x="720000" y="504000"/>
          <a:ext cx="864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76000" y="252000"/>
            <a:ext cx="8640000" cy="504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>
              <a:buNone/>
            </a:pPr>
            <a:r>
              <a:rPr lang="en-US" sz="2800" b="1">
                <a:solidFill>
                  <a:srgbClr val="123A63"/>
                </a:solidFill>
                <a:latin typeface="+mn-lt"/>
              </a:rPr>
              <a:t>Pipeline stages</a:t>
            </a:r>
          </a:p>
        </p:txBody>
      </p:sp>
      <p:graphicFrame>
        <p:nvGraphicFramePr>
          <p:cNvPr id="30" name="Table 1"/>
          <p:cNvGraphicFramePr/>
          <p:nvPr/>
        </p:nvGraphicFramePr>
        <p:xfrm>
          <a:off x="720000" y="936000"/>
          <a:ext cx="864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Stage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Input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Output</a:t>
                      </a:r>
                    </a:p>
                  </a:txBody>
                  <a:tcPr marL="45720" marR="4572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Status</a:t>
                      </a:r>
                    </a:p>
                  </a:txBody>
                  <a:tcPr marL="45720" marR="45720" marT="45720" marB="45720" anchor="ctr"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lang="en-US" sz="1300"/>
                        <a:t>Package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bytes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parts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done</a:t>
                      </a:r>
                    </a:p>
                  </a:txBody>
                  <a:tcPr marL="45720" marR="45720" marT="45720" marB="45720"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lang="en-US" sz="1300"/>
                        <a:t>Parse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OPC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model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done</a:t>
                      </a:r>
                    </a:p>
                  </a:txBody>
                  <a:tcPr marL="45720" marR="45720" marT="45720" marB="45720"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lang="en-US" sz="1300"/>
                        <a:t>Layout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model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boxes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done</a:t>
                      </a:r>
                    </a:p>
                  </a:txBody>
                  <a:tcPr marL="45720" marR="45720" marT="45720" marB="45720"/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lang="en-US" sz="1300"/>
                        <a:t>Render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boxes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DOM</a:t>
                      </a:r>
                    </a:p>
                  </a:txBody>
                  <a:tcPr marL="45720" marR="45720" marT="45720" marB="45720"/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done</a:t>
                      </a:r>
                    </a:p>
                  </a:txBody>
                  <a:tcPr marL="45720" marR="45720" marT="45720" marB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it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0000" y="144000"/>
            <a:ext cx="8640000" cy="36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>
              <a:buNone/>
            </a:pPr>
            <a:r>
              <a:rPr lang="en-US" sz="2000" b="1">
                <a:solidFill>
                  <a:srgbClr val="123A63"/>
                </a:solidFill>
                <a:latin typeface="+mn-lt"/>
              </a:rPr>
              <a:t>Transforms, groups, images and z-order</a:t>
            </a:r>
          </a:p>
        </p:txBody>
      </p:sp>
      <p:sp>
        <p:nvSpPr>
          <p:cNvPr id="40" name="Rotated gradient"/>
          <p:cNvSpPr/>
          <p:nvPr/>
        </p:nvSpPr>
        <p:spPr>
          <a:xfrm rot="1800000">
            <a:off x="540000" y="504000"/>
            <a:ext cx="2160000" cy="1080000"/>
          </a:xfrm>
          <a:prstGeom prst="roundRect">
            <a:avLst/>
          </a:prstGeom>
          <a:gradFill rotWithShape="1">
            <a:gsLst>
              <a:gs pos="0">
                <a:srgbClr val="FF8A00"/>
              </a:gs>
              <a:gs pos="100000">
                <a:srgbClr val="E02020"/>
              </a:gs>
            </a:gsLst>
            <a:lin ang="2700000" scaled="0"/>
          </a:gradFill>
          <a:ln w="12700">
            <a:solidFill>
              <a:srgbClr val="5A3200"/>
            </a:solidFill>
          </a:ln>
          <a:effectLst>
            <a:outerShdw blurRad="108000" dist="43200" dir="5400000" rotWithShape="0">
              <a:srgbClr val="000000">
                <a:alpha val="45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rot 30deg + shadow</a:t>
            </a:r>
          </a:p>
        </p:txBody>
      </p:sp>
      <p:grpSp>
        <p:nvGrpSpPr>
          <p:cNvPr id="41" name="Outer group"/>
          <p:cNvGrpSpPr/>
          <p:nvPr/>
        </p:nvGrpSpPr>
        <p:grpSpPr>
          <a:xfrm>
            <a:off x="540000" y="1800000"/>
            <a:ext cx="2880000" cy="1440000"/>
            <a:chOff x="0" y="0"/>
            <a:chExt cx="8640000" cy="4320000"/>
          </a:xfrm>
        </p:grpSpPr>
        <p:sp>
          <p:nvSpPr>
            <p:cNvPr id="45" name="Group base"/>
            <p:cNvSpPr/>
            <p:nvPr/>
          </p:nvSpPr>
          <p:spPr>
            <a:xfrm>
              <a:off x="0" y="0"/>
              <a:ext cx="8640000" cy="4320000"/>
            </a:xfrm>
            <a:prstGeom prst="rect">
              <a:avLst/>
            </a:prstGeom>
            <a:solidFill>
              <a:srgbClr val="F2F4F7"/>
            </a:solidFill>
            <a:ln w="9525">
              <a:solidFill>
                <a:srgbClr val="AFB4BC"/>
              </a:solidFill>
            </a:ln>
          </p:spPr>
          <p:txBody>
            <a:bodyPr anchor="t"/>
            <a:lstStyle/>
            <a:p>
              <a:r>
                <a:rPr lang="en-US" sz="1200">
                  <a:solidFill>
                    <a:srgbClr val="57606A"/>
                  </a:solidFill>
                </a:rPr>
                <a:t>group chExt 24x12 -&gt; 8x4 cm</a:t>
              </a:r>
            </a:p>
          </p:txBody>
        </p:sp>
        <p:grpSp>
          <p:nvGrpSpPr>
            <p:cNvPr id="42" name="Inner group"/>
            <p:cNvGrpSpPr/>
            <p:nvPr/>
          </p:nvGrpSpPr>
          <p:grpSpPr>
            <a:xfrm>
              <a:off x="2160000" y="2160000"/>
              <a:ext cx="2160000" cy="1080000"/>
              <a:chOff x="720000" y="720000"/>
              <a:chExt cx="4320000" cy="2160000"/>
            </a:xfrm>
          </p:grpSpPr>
          <p:sp>
            <p:nvSpPr>
              <p:cNvPr id="43" name="Inner bar"/>
              <p:cNvSpPr/>
              <p:nvPr/>
            </p:nvSpPr>
            <p:spPr>
              <a:xfrm>
                <a:off x="720000" y="720000"/>
                <a:ext cx="1440000" cy="2160000"/>
              </a:xfrm>
              <a:prstGeom prst="rect">
                <a:avLst/>
              </a:prstGeom>
              <a:solidFill>
                <a:srgbClr val="1F6FEB"/>
              </a:solidFill>
            </p:spPr>
            <p:txBody>
              <a:bodyPr anchor="ctr"/>
              <a:lstStyle/>
              <a:p>
                <a:pPr algn="ctr"/>
                <a:r>
                  <a:rPr lang="en-US" sz="1200" b="1">
                    <a:solidFill>
                      <a:srgbClr val="FFFFFF"/>
                    </a:solidFill>
                  </a:rPr>
                  <a:t>nested</a:t>
                </a:r>
              </a:p>
            </p:txBody>
          </p:sp>
          <p:sp>
            <p:nvSpPr>
              <p:cNvPr id="44" name="Inner bar 2"/>
              <p:cNvSpPr/>
              <p:nvPr/>
            </p:nvSpPr>
            <p:spPr>
              <a:xfrm>
                <a:off x="2160000" y="720000"/>
                <a:ext cx="2880000" cy="2160000"/>
              </a:xfrm>
              <a:prstGeom prst="ellipse">
                <a:avLst/>
              </a:prstGeom>
              <a:solidFill>
                <a:srgbClr val="00A878"/>
              </a:solidFill>
            </p:spPr>
            <p:txBody>
              <a:bodyPr anchor="ctr"/>
              <a:lstStyle/>
              <a:p>
                <a:pPr algn="ctr"/>
                <a:r>
                  <a:rPr lang="en-US" sz="1200" b="1">
                    <a:solidFill>
                      <a:srgbClr val="FFFFFF"/>
                    </a:solidFill>
                  </a:rPr>
                  <a:t>scaled</a:t>
                </a:r>
              </a:p>
            </p:txBody>
          </p:sp>
        </p:grpSp>
      </p:grpSp>
      <p:pic>
        <p:nvPicPr>
          <p:cNvPr id="46" name="Swatch"/>
          <p:cNvPicPr>
            <a:picLocks noChangeAspect="1"/>
          </p:cNvPicPr>
          <p:nvPr/>
        </p:nvPicPr>
        <p:blipFill>
          <a:blip r:embed="rId2">
            <a:alphaModFix amt="85000"/>
          </a:blip>
          <a:srcRect l="10000" t="5000" r="5000" b="10000"/>
          <a:stretch>
            <a:fillRect/>
          </a:stretch>
        </p:blipFill>
        <p:spPr>
          <a:xfrm flipH="1">
            <a:off x="3780000" y="504000"/>
            <a:ext cx="2160000" cy="1440000"/>
          </a:xfrm>
          <a:prstGeom prst="rect">
            <a:avLst/>
          </a:prstGeom>
          <a:ln w="19050">
            <a:solidFill>
              <a:srgbClr val="1F2328"/>
            </a:solidFill>
          </a:ln>
        </p:spPr>
      </p:pic>
      <p:pic>
        <p:nvPicPr>
          <p:cNvPr id="53" name="Plain swat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4428000"/>
            <a:ext cx="1080000" cy="720000"/>
          </a:xfrm>
          <a:prstGeom prst="rect">
            <a:avLst/>
          </a:prstGeom>
        </p:spPr>
      </p:pic>
      <p:cxnSp>
        <p:nvCxnSpPr>
          <p:cNvPr id="47" name="Arrow"/>
          <p:cNvCxnSpPr/>
          <p:nvPr/>
        </p:nvCxnSpPr>
        <p:spPr>
          <a:xfrm flipV="1">
            <a:off x="3780000" y="2160000"/>
            <a:ext cx="2160000" cy="864000"/>
          </a:xfrm>
          <a:prstGeom prst="straightConnector1">
            <a:avLst/>
          </a:prstGeom>
          <a:ln w="28575" cap="rnd">
            <a:solidFill>
              <a:srgbClr val="C9252D"/>
            </a:solidFill>
            <a:prstDash val="dash"/>
            <a:round/>
            <a:headEnd type="none"/>
            <a:tailEnd type="triangle" w="lg" len="lg"/>
          </a:ln>
        </p:spPr>
      </p:cxnSp>
      <p:sp>
        <p:nvSpPr>
          <p:cNvPr id="48" name="Stack under"/>
          <p:cNvSpPr/>
          <p:nvPr/>
        </p:nvSpPr>
        <p:spPr>
          <a:xfrm>
            <a:off x="3780000" y="3240000"/>
            <a:ext cx="1800000" cy="1080000"/>
          </a:xfrm>
          <a:prstGeom prst="ellipse">
            <a:avLst/>
          </a:prstGeom>
          <a:solidFill>
            <a:srgbClr val="1F6FEB">
              <a:alpha val="60000"/>
            </a:srgbClr>
          </a:solidFill>
        </p:spPr>
      </p:sp>
      <p:sp>
        <p:nvSpPr>
          <p:cNvPr id="49" name="Stack over"/>
          <p:cNvSpPr/>
          <p:nvPr/>
        </p:nvSpPr>
        <p:spPr>
          <a:xfrm>
            <a:off x="4680000" y="3456000"/>
            <a:ext cx="1800000" cy="1080000"/>
          </a:xfrm>
          <a:prstGeom prst="ellipse">
            <a:avLst/>
          </a:prstGeom>
          <a:solidFill>
            <a:srgbClr val="F5A623">
              <a:alpha val="60000"/>
            </a:srgbClr>
          </a:solidFill>
        </p:spPr>
      </p:sp>
      <p:sp>
        <p:nvSpPr>
          <p:cNvPr id="51" name="Custom geometry"/>
          <p:cNvSpPr/>
          <p:nvPr/>
        </p:nvSpPr>
        <p:spPr>
          <a:xfrm>
            <a:off x="6300000" y="1512000"/>
            <a:ext cx="1800000" cy="1080000"/>
          </a:xfrm>
          <a:custGeom>
            <a:avLst/>
            <a:gdLst/>
            <a:pathLst>
              <a:path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E8F0FE"/>
          </a:solidFill>
          <a:ln w="19050">
            <a:solidFill>
              <a:srgbClr val="1F2328"/>
            </a:solidFill>
          </a:ln>
        </p:spPr>
      </p:sp>
      <p:sp>
        <p:nvSpPr>
          <p:cNvPr id="52" name="Custom geometry sized"/>
          <p:cNvSpPr/>
          <p:nvPr/>
        </p:nvSpPr>
        <p:spPr>
          <a:xfrm>
            <a:off x="6300000" y="2664000"/>
            <a:ext cx="1800000" cy="1080000"/>
          </a:xfrm>
          <a:custGeom>
            <a:avLst/>
            <a:gdLst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4E5"/>
          </a:solidFill>
          <a:ln w="19050">
            <a:solidFill>
              <a:srgbClr val="1F2328"/>
            </a:solidFill>
          </a:ln>
        </p:spPr>
      </p:sp>
      <p:sp>
        <p:nvSpPr>
          <p:cNvPr id="50" name="Legend"/>
          <p:cNvSpPr txBox="1"/>
          <p:nvPr/>
        </p:nvSpPr>
        <p:spPr>
          <a:xfrm>
            <a:off x="6300000" y="3240000"/>
            <a:ext cx="2880000" cy="10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>
              <a:buNone/>
            </a:pPr>
            <a:r>
              <a:rPr lang="en-US" sz="1200">
                <a:solidFill>
                  <a:srgbClr val="57606A"/>
                </a:solidFill>
                <a:latin typeface="+mn-lt"/>
              </a:rPr>
              <a:t>Blue circle is authored first, so the amber one blends on top.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3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preview-file fixture builder</Application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Office View Engine chart fixture</dc:title>
  <dc:creator>preview-file</dc:creator>
  <cp:lastModifiedBy>preview-file</cp:lastModifiedBy>
</cp:coreProperties>
</file>